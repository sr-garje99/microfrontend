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Comfortaa"/>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omfortaa-regular.fntdata"/><Relationship Id="rId14" Type="http://schemas.openxmlformats.org/officeDocument/2006/relationships/slide" Target="slides/slide9.xml"/><Relationship Id="rId16" Type="http://schemas.openxmlformats.org/officeDocument/2006/relationships/font" Target="fonts/Comforta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e004e989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e004e989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6e004e989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6e004e989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0470913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0470913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704709137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704709137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04709137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704709137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04709137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04709137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04709137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04709137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04709137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704709137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Comfortaa"/>
                <a:ea typeface="Comfortaa"/>
                <a:cs typeface="Comfortaa"/>
                <a:sym typeface="Comfortaa"/>
              </a:rPr>
              <a:t>Module Federation</a:t>
            </a:r>
            <a:endParaRPr>
              <a:latin typeface="Comfortaa"/>
              <a:ea typeface="Comfortaa"/>
              <a:cs typeface="Comfortaa"/>
              <a:sym typeface="Comfortaa"/>
            </a:endParaRPr>
          </a:p>
        </p:txBody>
      </p:sp>
      <p:pic>
        <p:nvPicPr>
          <p:cNvPr id="55" name="Google Shape;55;p13"/>
          <p:cNvPicPr preferRelativeResize="0"/>
          <p:nvPr/>
        </p:nvPicPr>
        <p:blipFill>
          <a:blip r:embed="rId3">
            <a:alphaModFix/>
          </a:blip>
          <a:stretch>
            <a:fillRect/>
          </a:stretch>
        </p:blipFill>
        <p:spPr>
          <a:xfrm>
            <a:off x="3013750" y="2797175"/>
            <a:ext cx="3116507" cy="1211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180375" y="16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What is webpack?</a:t>
            </a:r>
            <a:endParaRPr b="1">
              <a:latin typeface="Comfortaa"/>
              <a:ea typeface="Comfortaa"/>
              <a:cs typeface="Comfortaa"/>
              <a:sym typeface="Comfortaa"/>
            </a:endParaRPr>
          </a:p>
        </p:txBody>
      </p:sp>
      <p:sp>
        <p:nvSpPr>
          <p:cNvPr id="61" name="Google Shape;61;p14"/>
          <p:cNvSpPr txBox="1"/>
          <p:nvPr>
            <p:ph idx="1" type="body"/>
          </p:nvPr>
        </p:nvSpPr>
        <p:spPr>
          <a:xfrm>
            <a:off x="311700" y="3539550"/>
            <a:ext cx="8520600" cy="1532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br>
              <a:rPr lang="en">
                <a:solidFill>
                  <a:schemeClr val="dk1"/>
                </a:solidFill>
                <a:latin typeface="Comfortaa"/>
                <a:ea typeface="Comfortaa"/>
                <a:cs typeface="Comfortaa"/>
                <a:sym typeface="Comfortaa"/>
              </a:rPr>
            </a:br>
            <a:r>
              <a:rPr lang="en">
                <a:solidFill>
                  <a:schemeClr val="dk1"/>
                </a:solidFill>
                <a:latin typeface="Comfortaa"/>
                <a:ea typeface="Comfortaa"/>
                <a:cs typeface="Comfortaa"/>
                <a:sym typeface="Comfortaa"/>
              </a:rPr>
              <a:t>Webpack is a module bundler for JavaScript applications. It takes all the individual modules (JavaScript, CSS, images, etc.) in a project and bundles them into a few optimized static assets (bundles) that can be used by a browser. Essentially, it helps manage and optimize the various files that make up a web application, making it easier to develop and deploy. </a:t>
            </a:r>
            <a:endParaRPr>
              <a:solidFill>
                <a:schemeClr val="dk1"/>
              </a:solidFill>
              <a:latin typeface="Comfortaa"/>
              <a:ea typeface="Comfortaa"/>
              <a:cs typeface="Comfortaa"/>
              <a:sym typeface="Comfortaa"/>
            </a:endParaRPr>
          </a:p>
        </p:txBody>
      </p:sp>
      <p:pic>
        <p:nvPicPr>
          <p:cNvPr id="62" name="Google Shape;62;p14"/>
          <p:cNvPicPr preferRelativeResize="0"/>
          <p:nvPr/>
        </p:nvPicPr>
        <p:blipFill>
          <a:blip r:embed="rId3">
            <a:alphaModFix/>
          </a:blip>
          <a:stretch>
            <a:fillRect/>
          </a:stretch>
        </p:blipFill>
        <p:spPr>
          <a:xfrm>
            <a:off x="874675" y="733200"/>
            <a:ext cx="5503227" cy="27516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Module Federation:</a:t>
            </a:r>
            <a:endParaRPr b="1">
              <a:latin typeface="Comfortaa"/>
              <a:ea typeface="Comfortaa"/>
              <a:cs typeface="Comfortaa"/>
              <a:sym typeface="Comfortaa"/>
            </a:endParaRPr>
          </a:p>
        </p:txBody>
      </p:sp>
      <p:sp>
        <p:nvSpPr>
          <p:cNvPr id="68" name="Google Shape;68;p15"/>
          <p:cNvSpPr txBox="1"/>
          <p:nvPr>
            <p:ph idx="1" type="body"/>
          </p:nvPr>
        </p:nvSpPr>
        <p:spPr>
          <a:xfrm>
            <a:off x="311700" y="1152475"/>
            <a:ext cx="8520600" cy="141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Comfortaa"/>
                <a:ea typeface="Comfortaa"/>
                <a:cs typeface="Comfortaa"/>
                <a:sym typeface="Comfortaa"/>
              </a:rPr>
              <a:t>Multiple separate builds should form a single application. These separate builds act like containers and can expose and consume code among themselves, creating a single, unified application.</a:t>
            </a:r>
            <a:br>
              <a:rPr lang="en">
                <a:solidFill>
                  <a:schemeClr val="dk1"/>
                </a:solidFill>
                <a:latin typeface="Comfortaa"/>
                <a:ea typeface="Comfortaa"/>
                <a:cs typeface="Comfortaa"/>
                <a:sym typeface="Comfortaa"/>
              </a:rPr>
            </a:br>
            <a:endParaRPr>
              <a:solidFill>
                <a:schemeClr val="dk1"/>
              </a:solidFill>
              <a:latin typeface="Comfortaa"/>
              <a:ea typeface="Comfortaa"/>
              <a:cs typeface="Comfortaa"/>
              <a:sym typeface="Comfortaa"/>
            </a:endParaRPr>
          </a:p>
        </p:txBody>
      </p:sp>
      <p:pic>
        <p:nvPicPr>
          <p:cNvPr id="69" name="Google Shape;69;p15"/>
          <p:cNvPicPr preferRelativeResize="0"/>
          <p:nvPr/>
        </p:nvPicPr>
        <p:blipFill>
          <a:blip r:embed="rId3">
            <a:alphaModFix/>
          </a:blip>
          <a:stretch>
            <a:fillRect/>
          </a:stretch>
        </p:blipFill>
        <p:spPr>
          <a:xfrm>
            <a:off x="152400" y="2724175"/>
            <a:ext cx="2143125" cy="2143125"/>
          </a:xfrm>
          <a:prstGeom prst="rect">
            <a:avLst/>
          </a:prstGeom>
          <a:noFill/>
          <a:ln>
            <a:noFill/>
          </a:ln>
        </p:spPr>
      </p:pic>
      <p:pic>
        <p:nvPicPr>
          <p:cNvPr id="70" name="Google Shape;70;p15"/>
          <p:cNvPicPr preferRelativeResize="0"/>
          <p:nvPr/>
        </p:nvPicPr>
        <p:blipFill>
          <a:blip r:embed="rId4">
            <a:alphaModFix/>
          </a:blip>
          <a:stretch>
            <a:fillRect/>
          </a:stretch>
        </p:blipFill>
        <p:spPr>
          <a:xfrm>
            <a:off x="2926725" y="2997363"/>
            <a:ext cx="2638425" cy="1733550"/>
          </a:xfrm>
          <a:prstGeom prst="rect">
            <a:avLst/>
          </a:prstGeom>
          <a:noFill/>
          <a:ln>
            <a:noFill/>
          </a:ln>
        </p:spPr>
      </p:pic>
      <p:pic>
        <p:nvPicPr>
          <p:cNvPr id="71" name="Google Shape;71;p15"/>
          <p:cNvPicPr preferRelativeResize="0"/>
          <p:nvPr/>
        </p:nvPicPr>
        <p:blipFill>
          <a:blip r:embed="rId5">
            <a:alphaModFix/>
          </a:blip>
          <a:stretch>
            <a:fillRect/>
          </a:stretch>
        </p:blipFill>
        <p:spPr>
          <a:xfrm>
            <a:off x="6196350" y="2928963"/>
            <a:ext cx="1733550" cy="1733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198475" y="105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Configuration</a:t>
            </a:r>
            <a:endParaRPr/>
          </a:p>
        </p:txBody>
      </p:sp>
      <p:pic>
        <p:nvPicPr>
          <p:cNvPr id="77" name="Google Shape;77;p16"/>
          <p:cNvPicPr preferRelativeResize="0"/>
          <p:nvPr/>
        </p:nvPicPr>
        <p:blipFill>
          <a:blip r:embed="rId3">
            <a:alphaModFix/>
          </a:blip>
          <a:stretch>
            <a:fillRect/>
          </a:stretch>
        </p:blipFill>
        <p:spPr>
          <a:xfrm>
            <a:off x="311700" y="1251550"/>
            <a:ext cx="3888350" cy="3371200"/>
          </a:xfrm>
          <a:prstGeom prst="rect">
            <a:avLst/>
          </a:prstGeom>
          <a:noFill/>
          <a:ln>
            <a:noFill/>
          </a:ln>
        </p:spPr>
      </p:pic>
      <p:pic>
        <p:nvPicPr>
          <p:cNvPr id="78" name="Google Shape;78;p16"/>
          <p:cNvPicPr preferRelativeResize="0"/>
          <p:nvPr/>
        </p:nvPicPr>
        <p:blipFill>
          <a:blip r:embed="rId4">
            <a:alphaModFix/>
          </a:blip>
          <a:stretch>
            <a:fillRect/>
          </a:stretch>
        </p:blipFill>
        <p:spPr>
          <a:xfrm>
            <a:off x="4287750" y="1251550"/>
            <a:ext cx="4639150" cy="2158125"/>
          </a:xfrm>
          <a:prstGeom prst="rect">
            <a:avLst/>
          </a:prstGeom>
          <a:noFill/>
          <a:ln>
            <a:noFill/>
          </a:ln>
        </p:spPr>
      </p:pic>
      <p:sp>
        <p:nvSpPr>
          <p:cNvPr id="79" name="Google Shape;79;p16"/>
          <p:cNvSpPr txBox="1"/>
          <p:nvPr/>
        </p:nvSpPr>
        <p:spPr>
          <a:xfrm>
            <a:off x="524050" y="676175"/>
            <a:ext cx="2571900" cy="4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Remote App</a:t>
            </a:r>
            <a:endParaRPr sz="1800">
              <a:solidFill>
                <a:schemeClr val="dk2"/>
              </a:solidFill>
            </a:endParaRPr>
          </a:p>
        </p:txBody>
      </p:sp>
      <p:sp>
        <p:nvSpPr>
          <p:cNvPr id="80" name="Google Shape;80;p16"/>
          <p:cNvSpPr txBox="1"/>
          <p:nvPr/>
        </p:nvSpPr>
        <p:spPr>
          <a:xfrm>
            <a:off x="4287750" y="676175"/>
            <a:ext cx="2571900" cy="4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Host</a:t>
            </a:r>
            <a:r>
              <a:rPr lang="en" sz="1800">
                <a:solidFill>
                  <a:schemeClr val="dk2"/>
                </a:solidFill>
              </a:rPr>
              <a:t> App</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8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Lazy Loading</a:t>
            </a:r>
            <a:endParaRPr b="1">
              <a:latin typeface="Comfortaa"/>
              <a:ea typeface="Comfortaa"/>
              <a:cs typeface="Comfortaa"/>
              <a:sym typeface="Comfortaa"/>
            </a:endParaRPr>
          </a:p>
        </p:txBody>
      </p:sp>
      <p:sp>
        <p:nvSpPr>
          <p:cNvPr id="86" name="Google Shape;86;p17"/>
          <p:cNvSpPr txBox="1"/>
          <p:nvPr>
            <p:ph idx="1" type="body"/>
          </p:nvPr>
        </p:nvSpPr>
        <p:spPr>
          <a:xfrm>
            <a:off x="376400" y="653575"/>
            <a:ext cx="8520600" cy="41955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1"/>
              </a:buClr>
              <a:buSzPts val="1500"/>
              <a:buFont typeface="Comfortaa"/>
              <a:buChar char="❏"/>
            </a:pPr>
            <a:r>
              <a:rPr lang="en" sz="1500">
                <a:solidFill>
                  <a:schemeClr val="dk1"/>
                </a:solidFill>
                <a:latin typeface="Comfortaa"/>
                <a:ea typeface="Comfortaa"/>
                <a:cs typeface="Comfortaa"/>
                <a:sym typeface="Comfortaa"/>
              </a:rPr>
              <a:t>It </a:t>
            </a:r>
            <a:r>
              <a:rPr lang="en" sz="1500">
                <a:solidFill>
                  <a:schemeClr val="dk1"/>
                </a:solidFill>
                <a:latin typeface="Comfortaa"/>
                <a:ea typeface="Comfortaa"/>
                <a:cs typeface="Comfortaa"/>
                <a:sym typeface="Comfortaa"/>
              </a:rPr>
              <a:t>defers the loading of components or resources until they are actually needed, rather than loading everything upfront. </a:t>
            </a:r>
            <a:endParaRPr sz="1500">
              <a:solidFill>
                <a:schemeClr val="dk1"/>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1"/>
              </a:buClr>
              <a:buSzPts val="1500"/>
              <a:buFont typeface="Comfortaa"/>
              <a:buChar char="❏"/>
            </a:pPr>
            <a:r>
              <a:rPr lang="en" sz="1500">
                <a:solidFill>
                  <a:schemeClr val="dk1"/>
                </a:solidFill>
                <a:latin typeface="Comfortaa"/>
                <a:ea typeface="Comfortaa"/>
                <a:cs typeface="Comfortaa"/>
                <a:sym typeface="Comfortaa"/>
              </a:rPr>
              <a:t>This approach helps reduce the initial load time of a React application, improving user experience and overall performance, especially in large-scale applications. </a:t>
            </a:r>
            <a:endParaRPr sz="1500">
              <a:solidFill>
                <a:schemeClr val="dk1"/>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1"/>
              </a:buClr>
              <a:buSzPts val="1500"/>
              <a:buFont typeface="Comfortaa"/>
              <a:buChar char="❏"/>
            </a:pPr>
            <a:r>
              <a:rPr lang="en" sz="1500">
                <a:solidFill>
                  <a:schemeClr val="dk1"/>
                </a:solidFill>
                <a:latin typeface="Comfortaa"/>
                <a:ea typeface="Comfortaa"/>
                <a:cs typeface="Comfortaa"/>
                <a:sym typeface="Comfortaa"/>
              </a:rPr>
              <a:t>React provides built-in features to facilitate lazy loading</a:t>
            </a:r>
            <a:endParaRPr b="1" sz="1500">
              <a:solidFill>
                <a:schemeClr val="dk1"/>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1"/>
              </a:buClr>
              <a:buSzPts val="1500"/>
              <a:buChar char="❏"/>
            </a:pPr>
            <a:r>
              <a:rPr b="1" i="1" lang="en" sz="1500">
                <a:solidFill>
                  <a:schemeClr val="dk1"/>
                </a:solidFill>
                <a:latin typeface="Comfortaa"/>
                <a:ea typeface="Comfortaa"/>
                <a:cs typeface="Comfortaa"/>
                <a:sym typeface="Comfortaa"/>
              </a:rPr>
              <a:t>React.lazy()</a:t>
            </a:r>
            <a:r>
              <a:rPr lang="en" sz="1500">
                <a:solidFill>
                  <a:schemeClr val="dk1"/>
                </a:solidFill>
                <a:latin typeface="Comfortaa"/>
                <a:ea typeface="Comfortaa"/>
                <a:cs typeface="Comfortaa"/>
                <a:sym typeface="Comfortaa"/>
              </a:rPr>
              <a:t>: This function allows you to dynamically import a component, meaning its code is loaded only when the component is rendered for the first time.</a:t>
            </a:r>
            <a:endParaRPr sz="1500">
              <a:solidFill>
                <a:schemeClr val="dk1"/>
              </a:solidFill>
              <a:latin typeface="Comfortaa"/>
              <a:ea typeface="Comfortaa"/>
              <a:cs typeface="Comfortaa"/>
              <a:sym typeface="Comfortaa"/>
            </a:endParaRPr>
          </a:p>
          <a:p>
            <a:pPr indent="-323850" lvl="0" marL="457200" rtl="0" algn="l">
              <a:lnSpc>
                <a:spcPct val="150000"/>
              </a:lnSpc>
              <a:spcBef>
                <a:spcPts val="0"/>
              </a:spcBef>
              <a:spcAft>
                <a:spcPts val="0"/>
              </a:spcAft>
              <a:buClr>
                <a:schemeClr val="dk1"/>
              </a:buClr>
              <a:buSzPts val="1500"/>
              <a:buChar char="❏"/>
            </a:pPr>
            <a:r>
              <a:rPr b="1" i="1" lang="en" sz="1500">
                <a:solidFill>
                  <a:schemeClr val="dk1"/>
                </a:solidFill>
                <a:latin typeface="Comfortaa"/>
                <a:ea typeface="Comfortaa"/>
                <a:cs typeface="Comfortaa"/>
                <a:sym typeface="Comfortaa"/>
              </a:rPr>
              <a:t>Suspense</a:t>
            </a:r>
            <a:r>
              <a:rPr lang="en" sz="1500">
                <a:solidFill>
                  <a:schemeClr val="dk1"/>
                </a:solidFill>
                <a:latin typeface="Comfortaa"/>
                <a:ea typeface="Comfortaa"/>
                <a:cs typeface="Comfortaa"/>
                <a:sym typeface="Comfortaa"/>
              </a:rPr>
              <a:t>: This component is used in conjunction with React.lazy() to handle the loading state while the lazy-loaded component is being fetched. It takes a fallback prop, which is a React element to display while the component is loading.</a:t>
            </a:r>
            <a:endParaRPr sz="1500">
              <a:solidFill>
                <a:schemeClr val="dk1"/>
              </a:solidFill>
              <a:latin typeface="Comfortaa"/>
              <a:ea typeface="Comfortaa"/>
              <a:cs typeface="Comfortaa"/>
              <a:sym typeface="Comforta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73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Error Boundaries</a:t>
            </a:r>
            <a:endParaRPr b="1">
              <a:latin typeface="Comfortaa"/>
              <a:ea typeface="Comfortaa"/>
              <a:cs typeface="Comfortaa"/>
              <a:sym typeface="Comfortaa"/>
            </a:endParaRPr>
          </a:p>
        </p:txBody>
      </p:sp>
      <p:sp>
        <p:nvSpPr>
          <p:cNvPr id="92" name="Google Shape;92;p18"/>
          <p:cNvSpPr txBox="1"/>
          <p:nvPr>
            <p:ph idx="1" type="body"/>
          </p:nvPr>
        </p:nvSpPr>
        <p:spPr>
          <a:xfrm>
            <a:off x="311700" y="645725"/>
            <a:ext cx="8520600" cy="4332900"/>
          </a:xfrm>
          <a:prstGeom prst="rect">
            <a:avLst/>
          </a:prstGeom>
        </p:spPr>
        <p:txBody>
          <a:bodyPr anchorCtr="0" anchor="t" bIns="91425" lIns="91425" spcFirstLastPara="1" rIns="91425" wrap="square" tIns="91425">
            <a:noAutofit/>
          </a:bodyPr>
          <a:lstStyle/>
          <a:p>
            <a:pPr indent="-331168" lvl="0" marL="457200" rtl="0" algn="l">
              <a:lnSpc>
                <a:spcPct val="130000"/>
              </a:lnSpc>
              <a:spcBef>
                <a:spcPts val="0"/>
              </a:spcBef>
              <a:spcAft>
                <a:spcPts val="0"/>
              </a:spcAft>
              <a:buClr>
                <a:schemeClr val="dk1"/>
              </a:buClr>
              <a:buSzPts val="1615"/>
              <a:buFont typeface="Comfortaa"/>
              <a:buChar char="❏"/>
            </a:pPr>
            <a:r>
              <a:rPr lang="en" sz="1615">
                <a:solidFill>
                  <a:schemeClr val="dk1"/>
                </a:solidFill>
                <a:latin typeface="Comfortaa"/>
                <a:ea typeface="Comfortaa"/>
                <a:cs typeface="Comfortaa"/>
                <a:sym typeface="Comfortaa"/>
              </a:rPr>
              <a:t>React components that are designed to catch JavaScript errors that occur within their child component tree during rendering, in lifecycle methods, and in constructors. When an error is caught, an error boundary can display a fallback UI instead of the component tree that crashed, preventing the entire application from breaking and enhancing the user experience. </a:t>
            </a:r>
            <a:endParaRPr sz="1615">
              <a:solidFill>
                <a:schemeClr val="dk1"/>
              </a:solidFill>
              <a:latin typeface="Comfortaa"/>
              <a:ea typeface="Comfortaa"/>
              <a:cs typeface="Comfortaa"/>
              <a:sym typeface="Comfortaa"/>
            </a:endParaRPr>
          </a:p>
          <a:p>
            <a:pPr indent="-331168" lvl="0" marL="457200" rtl="0" algn="l">
              <a:lnSpc>
                <a:spcPct val="130000"/>
              </a:lnSpc>
              <a:spcBef>
                <a:spcPts val="0"/>
              </a:spcBef>
              <a:spcAft>
                <a:spcPts val="0"/>
              </a:spcAft>
              <a:buClr>
                <a:schemeClr val="dk1"/>
              </a:buClr>
              <a:buSzPts val="1615"/>
              <a:buFont typeface="Comfortaa"/>
              <a:buChar char="❏"/>
            </a:pPr>
            <a:r>
              <a:rPr lang="en" sz="1615">
                <a:solidFill>
                  <a:schemeClr val="dk1"/>
                </a:solidFill>
                <a:latin typeface="Comfortaa"/>
                <a:ea typeface="Comfortaa"/>
                <a:cs typeface="Comfortaa"/>
                <a:sym typeface="Comfortaa"/>
              </a:rPr>
              <a:t>An error boundary is typically implemented as a class component with at least one of these static lifecycle methods:</a:t>
            </a:r>
            <a:endParaRPr sz="1615">
              <a:solidFill>
                <a:schemeClr val="dk1"/>
              </a:solidFill>
              <a:latin typeface="Comfortaa"/>
              <a:ea typeface="Comfortaa"/>
              <a:cs typeface="Comfortaa"/>
              <a:sym typeface="Comfortaa"/>
            </a:endParaRPr>
          </a:p>
          <a:p>
            <a:pPr indent="-331168" lvl="0" marL="457200" rtl="0" algn="l">
              <a:lnSpc>
                <a:spcPct val="130000"/>
              </a:lnSpc>
              <a:spcBef>
                <a:spcPts val="0"/>
              </a:spcBef>
              <a:spcAft>
                <a:spcPts val="0"/>
              </a:spcAft>
              <a:buClr>
                <a:schemeClr val="dk1"/>
              </a:buClr>
              <a:buSzPts val="1615"/>
              <a:buFont typeface="Comfortaa"/>
              <a:buChar char="❏"/>
            </a:pPr>
            <a:r>
              <a:rPr b="1" lang="en" sz="1615">
                <a:solidFill>
                  <a:schemeClr val="dk1"/>
                </a:solidFill>
                <a:latin typeface="Comfortaa"/>
                <a:ea typeface="Comfortaa"/>
                <a:cs typeface="Comfortaa"/>
                <a:sym typeface="Comfortaa"/>
              </a:rPr>
              <a:t>static getDerivedStateFromError(error)</a:t>
            </a:r>
            <a:r>
              <a:rPr lang="en" sz="1615">
                <a:solidFill>
                  <a:schemeClr val="dk1"/>
                </a:solidFill>
                <a:latin typeface="Comfortaa"/>
                <a:ea typeface="Comfortaa"/>
                <a:cs typeface="Comfortaa"/>
                <a:sym typeface="Comfortaa"/>
              </a:rPr>
              <a:t>: This method is called after an error is thrown by a descendant component. It should return an object to update state, allowing the error boundary to display a fallback UI.</a:t>
            </a:r>
            <a:endParaRPr sz="1615">
              <a:solidFill>
                <a:schemeClr val="dk1"/>
              </a:solidFill>
              <a:latin typeface="Comfortaa"/>
              <a:ea typeface="Comfortaa"/>
              <a:cs typeface="Comfortaa"/>
              <a:sym typeface="Comfortaa"/>
            </a:endParaRPr>
          </a:p>
          <a:p>
            <a:pPr indent="-331168" lvl="0" marL="457200" rtl="0" algn="l">
              <a:lnSpc>
                <a:spcPct val="130000"/>
              </a:lnSpc>
              <a:spcBef>
                <a:spcPts val="0"/>
              </a:spcBef>
              <a:spcAft>
                <a:spcPts val="0"/>
              </a:spcAft>
              <a:buClr>
                <a:schemeClr val="dk1"/>
              </a:buClr>
              <a:buSzPts val="1615"/>
              <a:buFont typeface="Comfortaa"/>
              <a:buChar char="❏"/>
            </a:pPr>
            <a:r>
              <a:rPr b="1" lang="en" sz="1615">
                <a:solidFill>
                  <a:schemeClr val="dk1"/>
                </a:solidFill>
                <a:latin typeface="Comfortaa"/>
                <a:ea typeface="Comfortaa"/>
                <a:cs typeface="Comfortaa"/>
                <a:sym typeface="Comfortaa"/>
              </a:rPr>
              <a:t>componentDidCatch(error, errorInfo)</a:t>
            </a:r>
            <a:r>
              <a:rPr lang="en" sz="1615">
                <a:solidFill>
                  <a:schemeClr val="dk1"/>
                </a:solidFill>
                <a:latin typeface="Comfortaa"/>
                <a:ea typeface="Comfortaa"/>
                <a:cs typeface="Comfortaa"/>
                <a:sym typeface="Comfortaa"/>
              </a:rPr>
              <a:t>: This method is called after an error is thrown. It is used for side effects, such as logging the error information to an external service.</a:t>
            </a:r>
            <a:endParaRPr sz="1615">
              <a:solidFill>
                <a:schemeClr val="dk1"/>
              </a:solidFill>
              <a:latin typeface="Comfortaa"/>
              <a:ea typeface="Comfortaa"/>
              <a:cs typeface="Comfortaa"/>
              <a:sym typeface="Comfortaa"/>
            </a:endParaRPr>
          </a:p>
          <a:p>
            <a:pPr indent="0" lvl="0" marL="0" rtl="0" algn="l">
              <a:lnSpc>
                <a:spcPct val="130000"/>
              </a:lnSpc>
              <a:spcBef>
                <a:spcPts val="1200"/>
              </a:spcBef>
              <a:spcAft>
                <a:spcPts val="1200"/>
              </a:spcAft>
              <a:buSzPts val="865"/>
              <a:buNone/>
            </a:pPr>
            <a:r>
              <a:t/>
            </a:r>
            <a:endParaRPr sz="1615">
              <a:solidFill>
                <a:schemeClr val="dk1"/>
              </a:solidFill>
              <a:latin typeface="Comfortaa"/>
              <a:ea typeface="Comfortaa"/>
              <a:cs typeface="Comfortaa"/>
              <a:sym typeface="Comforta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Pros</a:t>
            </a:r>
            <a:endParaRPr b="1">
              <a:latin typeface="Comfortaa"/>
              <a:ea typeface="Comfortaa"/>
              <a:cs typeface="Comfortaa"/>
              <a:sym typeface="Comfortaa"/>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marR="215900" rtl="0" algn="l">
              <a:lnSpc>
                <a:spcPct val="15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Runtime Integration</a:t>
            </a:r>
            <a:r>
              <a:rPr lang="en" sz="1600">
                <a:solidFill>
                  <a:schemeClr val="dk1"/>
                </a:solidFill>
                <a:highlight>
                  <a:srgbClr val="FFFFFF"/>
                </a:highlight>
                <a:latin typeface="Comfortaa"/>
                <a:ea typeface="Comfortaa"/>
                <a:cs typeface="Comfortaa"/>
                <a:sym typeface="Comfortaa"/>
              </a:rPr>
              <a:t> – Import remote components after both apps are built</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5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Independent Deployment</a:t>
            </a:r>
            <a:r>
              <a:rPr lang="en" sz="1600">
                <a:solidFill>
                  <a:schemeClr val="dk1"/>
                </a:solidFill>
                <a:highlight>
                  <a:srgbClr val="FFFFFF"/>
                </a:highlight>
                <a:latin typeface="Comfortaa"/>
                <a:ea typeface="Comfortaa"/>
                <a:cs typeface="Comfortaa"/>
                <a:sym typeface="Comfortaa"/>
              </a:rPr>
              <a:t> – Teams can ship apps on separate pipelines</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5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Code Sharing</a:t>
            </a:r>
            <a:r>
              <a:rPr lang="en" sz="1600">
                <a:solidFill>
                  <a:schemeClr val="dk1"/>
                </a:solidFill>
                <a:highlight>
                  <a:srgbClr val="FFFFFF"/>
                </a:highlight>
                <a:latin typeface="Comfortaa"/>
                <a:ea typeface="Comfortaa"/>
                <a:cs typeface="Comfortaa"/>
                <a:sym typeface="Comfortaa"/>
              </a:rPr>
              <a:t> – Share common libraries (React, lodash) to reduce duplication</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5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No iframes or wrappers</a:t>
            </a:r>
            <a:r>
              <a:rPr lang="en" sz="1600">
                <a:solidFill>
                  <a:schemeClr val="dk1"/>
                </a:solidFill>
                <a:highlight>
                  <a:srgbClr val="FFFFFF"/>
                </a:highlight>
                <a:latin typeface="Comfortaa"/>
                <a:ea typeface="Comfortaa"/>
                <a:cs typeface="Comfortaa"/>
                <a:sym typeface="Comfortaa"/>
              </a:rPr>
              <a:t> – Native component integration, not isolated like Web Components</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5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No import maps needed</a:t>
            </a:r>
            <a:r>
              <a:rPr lang="en" sz="1600">
                <a:solidFill>
                  <a:schemeClr val="dk1"/>
                </a:solidFill>
                <a:highlight>
                  <a:srgbClr val="FFFFFF"/>
                </a:highlight>
                <a:latin typeface="Comfortaa"/>
                <a:ea typeface="Comfortaa"/>
                <a:cs typeface="Comfortaa"/>
                <a:sym typeface="Comfortaa"/>
              </a:rPr>
              <a:t> – Webpack handles all the resolution logic</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5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Works across frameworks –</a:t>
            </a:r>
            <a:r>
              <a:rPr lang="en" sz="1600">
                <a:solidFill>
                  <a:schemeClr val="dk1"/>
                </a:solidFill>
                <a:highlight>
                  <a:srgbClr val="FFFFFF"/>
                </a:highlight>
                <a:latin typeface="Comfortaa"/>
                <a:ea typeface="Comfortaa"/>
                <a:cs typeface="Comfortaa"/>
                <a:sym typeface="Comfortaa"/>
              </a:rPr>
              <a:t> Can be used in React, Angular, Vue, even Web Components</a:t>
            </a:r>
            <a:endParaRPr sz="1600">
              <a:solidFill>
                <a:schemeClr val="dk1"/>
              </a:solidFill>
              <a:highlight>
                <a:srgbClr val="FFFFFF"/>
              </a:highlight>
              <a:latin typeface="Comfortaa"/>
              <a:ea typeface="Comfortaa"/>
              <a:cs typeface="Comfortaa"/>
              <a:sym typeface="Comfortaa"/>
            </a:endParaRPr>
          </a:p>
          <a:p>
            <a:pPr indent="0" lvl="0" marL="0" rtl="0" algn="l">
              <a:lnSpc>
                <a:spcPct val="105000"/>
              </a:lnSpc>
              <a:spcBef>
                <a:spcPts val="3300"/>
              </a:spcBef>
              <a:spcAft>
                <a:spcPts val="1200"/>
              </a:spcAft>
              <a:buSzPts val="935"/>
              <a:buNone/>
            </a:pPr>
            <a:r>
              <a:t/>
            </a:r>
            <a:endParaRPr sz="1600">
              <a:solidFill>
                <a:schemeClr val="dk1"/>
              </a:solidFill>
              <a:latin typeface="Comfortaa"/>
              <a:ea typeface="Comfortaa"/>
              <a:cs typeface="Comfortaa"/>
              <a:sym typeface="Comforta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116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Cons</a:t>
            </a:r>
            <a:endParaRPr b="1">
              <a:latin typeface="Comfortaa"/>
              <a:ea typeface="Comfortaa"/>
              <a:cs typeface="Comfortaa"/>
              <a:sym typeface="Comfortaa"/>
            </a:endParaRPr>
          </a:p>
        </p:txBody>
      </p:sp>
      <p:sp>
        <p:nvSpPr>
          <p:cNvPr id="104" name="Google Shape;104;p20"/>
          <p:cNvSpPr txBox="1"/>
          <p:nvPr>
            <p:ph idx="1" type="body"/>
          </p:nvPr>
        </p:nvSpPr>
        <p:spPr>
          <a:xfrm>
            <a:off x="311700" y="689425"/>
            <a:ext cx="8520600" cy="3416400"/>
          </a:xfrm>
          <a:prstGeom prst="rect">
            <a:avLst/>
          </a:prstGeom>
        </p:spPr>
        <p:txBody>
          <a:bodyPr anchorCtr="0" anchor="t" bIns="91425" lIns="91425" spcFirstLastPara="1" rIns="91425" wrap="square" tIns="91425">
            <a:noAutofit/>
          </a:bodyPr>
          <a:lstStyle/>
          <a:p>
            <a:pPr indent="-330200" lvl="0" marL="457200" marR="215900" rtl="0" algn="l">
              <a:lnSpc>
                <a:spcPct val="16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Tied to Webpack</a:t>
            </a:r>
            <a:r>
              <a:rPr lang="en" sz="1600">
                <a:solidFill>
                  <a:schemeClr val="dk1"/>
                </a:solidFill>
                <a:highlight>
                  <a:srgbClr val="FFFFFF"/>
                </a:highlight>
                <a:latin typeface="Comfortaa"/>
                <a:ea typeface="Comfortaa"/>
                <a:cs typeface="Comfortaa"/>
                <a:sym typeface="Comfortaa"/>
              </a:rPr>
              <a:t> – </a:t>
            </a:r>
            <a:r>
              <a:rPr b="1" lang="en" sz="1600">
                <a:solidFill>
                  <a:schemeClr val="dk1"/>
                </a:solidFill>
                <a:highlight>
                  <a:srgbClr val="FFFFFF"/>
                </a:highlight>
                <a:latin typeface="Comfortaa"/>
                <a:ea typeface="Comfortaa"/>
                <a:cs typeface="Comfortaa"/>
                <a:sym typeface="Comfortaa"/>
              </a:rPr>
              <a:t>Federation</a:t>
            </a:r>
            <a:r>
              <a:rPr lang="en" sz="1600">
                <a:solidFill>
                  <a:schemeClr val="dk1"/>
                </a:solidFill>
                <a:highlight>
                  <a:srgbClr val="FFFFFF"/>
                </a:highlight>
                <a:latin typeface="Comfortaa"/>
                <a:ea typeface="Comfortaa"/>
                <a:cs typeface="Comfortaa"/>
                <a:sym typeface="Comfortaa"/>
              </a:rPr>
              <a:t> is Webpack-specific (Vite/Rollup alternatives exist but are not native)</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6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Initial setup is complicated</a:t>
            </a:r>
            <a:r>
              <a:rPr lang="en" sz="1600">
                <a:solidFill>
                  <a:schemeClr val="dk1"/>
                </a:solidFill>
                <a:highlight>
                  <a:srgbClr val="FFFFFF"/>
                </a:highlight>
                <a:latin typeface="Comfortaa"/>
                <a:ea typeface="Comfortaa"/>
                <a:cs typeface="Comfortaa"/>
                <a:sym typeface="Comfortaa"/>
              </a:rPr>
              <a:t> – Requires per-app Webpack configuration and shared dependency coordination</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6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Runtime failures are possible –</a:t>
            </a:r>
            <a:r>
              <a:rPr lang="en" sz="1600">
                <a:solidFill>
                  <a:schemeClr val="dk1"/>
                </a:solidFill>
                <a:highlight>
                  <a:srgbClr val="FFFFFF"/>
                </a:highlight>
                <a:latin typeface="Comfortaa"/>
                <a:ea typeface="Comfortaa"/>
                <a:cs typeface="Comfortaa"/>
                <a:sym typeface="Comfortaa"/>
              </a:rPr>
              <a:t> If the remote is down, the host may break unless you handle fallbacks</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6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Version mismatch risks</a:t>
            </a:r>
            <a:r>
              <a:rPr lang="en" sz="1600">
                <a:solidFill>
                  <a:schemeClr val="dk1"/>
                </a:solidFill>
                <a:highlight>
                  <a:srgbClr val="FFFFFF"/>
                </a:highlight>
                <a:latin typeface="Comfortaa"/>
                <a:ea typeface="Comfortaa"/>
                <a:cs typeface="Comfortaa"/>
                <a:sym typeface="Comfortaa"/>
              </a:rPr>
              <a:t> – Shared libs (like React) must be tightly versioned and aligned</a:t>
            </a:r>
            <a:endParaRPr sz="1600">
              <a:solidFill>
                <a:schemeClr val="dk1"/>
              </a:solidFill>
              <a:highlight>
                <a:srgbClr val="FFFFFF"/>
              </a:highlight>
              <a:latin typeface="Comfortaa"/>
              <a:ea typeface="Comfortaa"/>
              <a:cs typeface="Comfortaa"/>
              <a:sym typeface="Comfortaa"/>
            </a:endParaRPr>
          </a:p>
          <a:p>
            <a:pPr indent="-330200" lvl="0" marL="457200" marR="215900" rtl="0" algn="l">
              <a:lnSpc>
                <a:spcPct val="160000"/>
              </a:lnSpc>
              <a:spcBef>
                <a:spcPts val="0"/>
              </a:spcBef>
              <a:spcAft>
                <a:spcPts val="0"/>
              </a:spcAft>
              <a:buClr>
                <a:schemeClr val="dk1"/>
              </a:buClr>
              <a:buSzPts val="1600"/>
              <a:buChar char="❏"/>
            </a:pPr>
            <a:r>
              <a:rPr b="1" lang="en" sz="1600">
                <a:solidFill>
                  <a:schemeClr val="dk1"/>
                </a:solidFill>
                <a:highlight>
                  <a:srgbClr val="FFFFFF"/>
                </a:highlight>
                <a:latin typeface="Comfortaa"/>
                <a:ea typeface="Comfortaa"/>
                <a:cs typeface="Comfortaa"/>
                <a:sym typeface="Comfortaa"/>
              </a:rPr>
              <a:t>No automatic SSR</a:t>
            </a:r>
            <a:r>
              <a:rPr lang="en" sz="1600">
                <a:solidFill>
                  <a:schemeClr val="dk1"/>
                </a:solidFill>
                <a:highlight>
                  <a:srgbClr val="FFFFFF"/>
                </a:highlight>
                <a:latin typeface="Comfortaa"/>
                <a:ea typeface="Comfortaa"/>
                <a:cs typeface="Comfortaa"/>
                <a:sym typeface="Comfortaa"/>
              </a:rPr>
              <a:t> – Requires custom hydration logic for federated components</a:t>
            </a:r>
            <a:endParaRPr sz="1600">
              <a:solidFill>
                <a:schemeClr val="dk1"/>
              </a:solidFill>
              <a:highlight>
                <a:srgbClr val="FFFFFF"/>
              </a:highlight>
              <a:latin typeface="Comfortaa"/>
              <a:ea typeface="Comfortaa"/>
              <a:cs typeface="Comfortaa"/>
              <a:sym typeface="Comfortaa"/>
            </a:endParaRPr>
          </a:p>
          <a:p>
            <a:pPr indent="0" lvl="0" marL="457200" rtl="0" algn="l">
              <a:spcBef>
                <a:spcPts val="3300"/>
              </a:spcBef>
              <a:spcAft>
                <a:spcPts val="1200"/>
              </a:spcAft>
              <a:buNone/>
            </a:pPr>
            <a:r>
              <a:t/>
            </a:r>
            <a:endParaRPr sz="1600">
              <a:solidFill>
                <a:schemeClr val="dk1"/>
              </a:solidFill>
              <a:latin typeface="Comfortaa"/>
              <a:ea typeface="Comfortaa"/>
              <a:cs typeface="Comfortaa"/>
              <a:sym typeface="Comforta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1105050" y="1810200"/>
            <a:ext cx="6933900" cy="152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9220">
                <a:latin typeface="Comfortaa"/>
                <a:ea typeface="Comfortaa"/>
                <a:cs typeface="Comfortaa"/>
                <a:sym typeface="Comfortaa"/>
              </a:rPr>
              <a:t>Thank You</a:t>
            </a:r>
            <a:endParaRPr sz="9220">
              <a:latin typeface="Comfortaa"/>
              <a:ea typeface="Comfortaa"/>
              <a:cs typeface="Comfortaa"/>
              <a:sym typeface="Comforta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